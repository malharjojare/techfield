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B4B8E51-B0F4-4C8C-A264-4FEC1B9EAA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999852-81C5-4FA7-943A-550A6B4F27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7939B27-545F-481A-A404-FA648C1323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9A8B92-C637-4AD4-9A06-DBE8A5441D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6B0642-D63B-4906-92F0-5293AE865B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9B874B4-6DB1-42CF-9F02-3B08890AB5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07C8F9-98F4-4619-96B0-884125A2F8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1A896A-2EAD-4354-B066-A2D9616654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7A722B8-30A2-4DA6-BA3C-4688DB146E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1657803-844E-4BB7-A184-C0E623C41F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704701-D173-40AC-AAC8-0E4D9228B2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502920" y="502920"/>
            <a:ext cx="163800" cy="54399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868680" y="502920"/>
            <a:ext cx="163800" cy="5439960"/>
          </a:xfrm>
          <a:prstGeom prst="rect">
            <a:avLst/>
          </a:prstGeom>
          <a:solidFill>
            <a:srgbClr val="1E88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234440" y="502920"/>
            <a:ext cx="163800" cy="5439960"/>
          </a:xfrm>
          <a:prstGeom prst="rect">
            <a:avLst/>
          </a:prstGeom>
          <a:solidFill>
            <a:srgbClr val="CC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080" tIns="45000" rIns="820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645920" y="1097280"/>
            <a:ext cx="9874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Loan Application Portal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664280" y="196596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DCE6F0"/>
                </a:solidFill>
                <a:effectLst/>
                <a:uFillTx/>
                <a:latin typeface="Calibri"/>
              </a:rPr>
              <a:t>Machine learning loan amount recommendation system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664280" y="2697120"/>
            <a:ext cx="9631800" cy="28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Objective: 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Build a machine learning model that recommends an appropriate loan amount based on borrower financial and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credit characteristics.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Domain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Finance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Problem Type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Regression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Dataset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15,000 Borrower Records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Developed By</a:t>
            </a:r>
            <a:r>
              <a:rPr lang="en-US" sz="15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: Malhar Jojare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664280" y="5074920"/>
            <a:ext cx="23450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57200" y="6309360"/>
            <a:ext cx="496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Goal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530280" y="841320"/>
            <a:ext cx="290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the solution is designed to do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777240" y="1234440"/>
            <a:ext cx="2468160" cy="41076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777240" y="12891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777240" y="1783080"/>
            <a:ext cx="107892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Problem: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Financial institutions receive thousands of loan applications daily.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Traditional loan recommendation methods: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Depend heavily on manual review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Are time-consuming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Produce inconsistent recommendations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Increase operational costs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Goal:</a:t>
            </a:r>
            <a:r>
              <a:rPr lang="en-US" sz="14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Predict a recommended loan amount from borrower financial and credit profile data. Support lending decisions with a data-driven regression model. Turn the model into a simple application that non-technical users can run.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Target Variable:</a:t>
            </a:r>
            <a:r>
              <a:rPr lang="en-US" sz="14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Microsoft YaHei"/>
              </a:rPr>
              <a:t>recommended_loan_amount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4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Goal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530280" y="841320"/>
            <a:ext cx="290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the solution is designed to do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"/>
          <p:cNvSpPr/>
          <p:nvPr/>
        </p:nvSpPr>
        <p:spPr>
          <a:xfrm>
            <a:off x="777240" y="1234440"/>
            <a:ext cx="2468160" cy="41076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1174680" y="1289160"/>
            <a:ext cx="1672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29920" y="1828800"/>
            <a:ext cx="381348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This Problem Exists?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Manual underwriting effort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Inconsistent decisions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Human errors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Slow approval process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629400" y="1828800"/>
            <a:ext cx="3813480" cy="21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Business Consequences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 processing costs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dissatisfaction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Delayed approvals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 2" charset="2"/>
              <a:buChar char="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Reduced operational efficiency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Dataset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30280" y="841320"/>
            <a:ext cx="227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Summary from the notebook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Dataset Facts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15,000 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17 columns.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Finance domain.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Regression problem.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Target and Inputs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Target variable: recommended_loan_amount.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Inputs include age, income, credit score, debt ratio, savings, and loan term.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Also includes property ownership, defaults, and employment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457200" y="6309360"/>
            <a:ext cx="32889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Preparation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30280" y="841320"/>
            <a:ext cx="2403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Cleaning and validation steps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Cleaning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Explores missing values and outliers.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Handles unusual savings values using income-based replacement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Uses grouped analysis by years employed.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App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Validates age is at least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Checks email format before One Time Passcode flow.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Validates credit score range and required fields.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77240" y="1463040"/>
            <a:ext cx="1078920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notebook uses SQL-style queries and data visualization to inspect borrower patterns.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It reviews age, years employed, annual income, savings balance, debt, and credit features.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analysis helps reveal which borrower attributes are likely to influence the loan amount.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730800" y="2892240"/>
            <a:ext cx="10835640" cy="327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2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42480" y="1600200"/>
            <a:ext cx="12191040" cy="443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3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7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8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0" y="1067400"/>
            <a:ext cx="12191040" cy="53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5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9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0"/>
          <p:cNvSpPr/>
          <p:nvPr/>
        </p:nvSpPr>
        <p:spPr>
          <a:xfrm>
            <a:off x="530280" y="841320"/>
            <a:ext cx="2896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notebook examined the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6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1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2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"/>
          <p:cNvPicPr/>
          <p:nvPr/>
        </p:nvPicPr>
        <p:blipFill>
          <a:blip r:embed="rId1"/>
          <a:stretch/>
        </p:blipFill>
        <p:spPr>
          <a:xfrm>
            <a:off x="42480" y="1143000"/>
            <a:ext cx="12191040" cy="53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7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33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MICE Imputation vs My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5"/>
          <p:cNvSpPr/>
          <p:nvPr/>
        </p:nvSpPr>
        <p:spPr>
          <a:xfrm>
            <a:off x="457200" y="6309360"/>
            <a:ext cx="9600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6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5029200" y="1928160"/>
            <a:ext cx="6896160" cy="332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4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57200" y="1143000"/>
            <a:ext cx="4114800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MICE is more flexible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Wider spread (0.58 → 1.06)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Reacts to multiple features (credit score, employment, property, etc.)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Allows heterogeneity: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some people saving more than income (ratio &gt; 1)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others closer to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MICE has ratios &gt; 1 (e.g. 1.06)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That means: Imputed savings &gt; annual income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 can be: realistic only in rare cases (inheritance, assets, lump sums)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but often a sign of overestimation or weak constraints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Modeling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30280" y="841320"/>
            <a:ext cx="225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Training and model selection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Models Tested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Linear Regression.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Random Forest Regressor.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XGBoost Regressor.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Final Choice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XGBoost is selected as the final model.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trained model is saved as loan_amount_xgb.pkl.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Streamlit app loads the persisted model for predictions.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530280" y="841320"/>
            <a:ext cx="22831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Reported experimental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914400" y="1234440"/>
            <a:ext cx="10332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5"/>
          <p:cNvSpPr/>
          <p:nvPr/>
        </p:nvSpPr>
        <p:spPr>
          <a:xfrm>
            <a:off x="914400" y="1554480"/>
            <a:ext cx="10332000" cy="319968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>
            <a:solidFill>
              <a:srgbClr val="DCE1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1143000" y="1737360"/>
            <a:ext cx="9874800" cy="11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notebook reports very strong performance for the final XGBoost model.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Test R2 is about 0.9985.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This is a notebook result and should be presented as the experimental outcome of the training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7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457200" y="6309360"/>
            <a:ext cx="3281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9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"/>
          <p:cNvPicPr/>
          <p:nvPr/>
        </p:nvPicPr>
        <p:blipFill>
          <a:blip r:embed="rId1"/>
          <a:stretch/>
        </p:blipFill>
        <p:spPr>
          <a:xfrm>
            <a:off x="1196640" y="3200400"/>
            <a:ext cx="3832200" cy="10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"/>
          <p:cNvPicPr/>
          <p:nvPr/>
        </p:nvPicPr>
        <p:blipFill>
          <a:blip r:embed="rId2"/>
          <a:stretch/>
        </p:blipFill>
        <p:spPr>
          <a:xfrm>
            <a:off x="6462000" y="3200400"/>
            <a:ext cx="3824640" cy="108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9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502920" y="109800"/>
            <a:ext cx="10789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530280" y="841320"/>
            <a:ext cx="2382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Reported experimental result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7"/>
          <p:cNvSpPr/>
          <p:nvPr/>
        </p:nvSpPr>
        <p:spPr>
          <a:xfrm>
            <a:off x="914400" y="1234440"/>
            <a:ext cx="176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Notebook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1143000" y="1737360"/>
            <a:ext cx="987480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0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0"/>
          <p:cNvSpPr/>
          <p:nvPr/>
        </p:nvSpPr>
        <p:spPr>
          <a:xfrm>
            <a:off x="11236680" y="6309360"/>
            <a:ext cx="23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1"/>
          <a:stretch/>
        </p:blipFill>
        <p:spPr>
          <a:xfrm>
            <a:off x="228600" y="1600200"/>
            <a:ext cx="5889600" cy="472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2"/>
          <a:stretch/>
        </p:blipFill>
        <p:spPr>
          <a:xfrm>
            <a:off x="6438960" y="2385720"/>
            <a:ext cx="5676480" cy="58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3"/>
          <a:stretch/>
        </p:blipFill>
        <p:spPr>
          <a:xfrm>
            <a:off x="6400800" y="3863880"/>
            <a:ext cx="2559600" cy="25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Streamlit App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530280" y="841320"/>
            <a:ext cx="3010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How the user experience is structured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822960" y="1325880"/>
            <a:ext cx="56685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1: Personal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2: Email verification with OTP.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3: Employment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4: Credit profile.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5: Financials.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6: Loan 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Step 7: Review and prediction.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5"/>
          <p:cNvSpPr/>
          <p:nvPr/>
        </p:nvSpPr>
        <p:spPr>
          <a:xfrm>
            <a:off x="6400800" y="1417320"/>
            <a:ext cx="4114080" cy="410760"/>
          </a:xfrm>
          <a:prstGeom prst="roundRect">
            <a:avLst>
              <a:gd name="adj" fmla="val 16667"/>
            </a:avLst>
          </a:prstGeom>
          <a:solidFill>
            <a:srgbClr val="1E889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400800" y="14720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SESSION STATE + MODEL PREDICTION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6400800" y="1965960"/>
            <a:ext cx="51199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app stores each step in session state.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Inputs are aligned to the model’s feature order.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prediction is shown as a recommended loan amount.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040" cy="749160"/>
          </a:xfrm>
          <a:prstGeom prst="rect">
            <a:avLst/>
          </a:prstGeom>
          <a:solidFill>
            <a:srgbClr val="1226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02920" y="109800"/>
            <a:ext cx="10789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Takeaways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530280" y="841320"/>
            <a:ext cx="2472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What this project demonstrates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68580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E75B6"/>
                </a:solidFill>
                <a:effectLst/>
                <a:uFillTx/>
                <a:latin typeface="Calibri"/>
              </a:rPr>
              <a:t>Analytics 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71316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Data cleaning and outlier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Feature understanding through EDA.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Model comparison and persistence.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6217920" y="118872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8891"/>
                </a:solidFill>
                <a:effectLst/>
                <a:uFillTx/>
                <a:latin typeface="Calibri"/>
              </a:rPr>
              <a:t>Product Side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6236280" y="1554480"/>
            <a:ext cx="530280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Multi-step user experience.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Input validation and session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End-to-end loan recommendation portal.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8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457200" y="6309360"/>
            <a:ext cx="331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914400" y="1417320"/>
            <a:ext cx="1033200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From notebook to product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The notebook builds the modeling foundation.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The Streamlit app turns it into a usable loan recommendation experience.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000" b="0" u="none" strike="noStrike">
                <a:solidFill>
                  <a:srgbClr val="E1EBF5"/>
                </a:solidFill>
                <a:effectLst/>
                <a:uFillTx/>
                <a:latin typeface="Calibri"/>
              </a:rPr>
              <a:t>Together, they show a complete ML workflow from analysis to deployment.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914400" y="4983480"/>
            <a:ext cx="10332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BF0F5"/>
                </a:solidFill>
                <a:effectLst/>
                <a:uFillTx/>
                <a:latin typeface="Calibri"/>
              </a:rPr>
              <a:t>Thank you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411480" y="6272640"/>
            <a:ext cx="11337840" cy="17640"/>
          </a:xfrm>
          <a:prstGeom prst="rect">
            <a:avLst/>
          </a:prstGeom>
          <a:solidFill>
            <a:srgbClr val="E1E5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10972800" y="630936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2026-06-23T14:51:46Z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