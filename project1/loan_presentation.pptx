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1A5E14C-1533-4F9D-A390-E713933681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7577B98-DCA5-407F-A013-F54359D2F8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0331AB0-D17A-4970-B0E5-08DF5A4F5E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7CE246-BB73-41DB-A71D-57403CDF1A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26AF540-0780-44F2-9A32-346B5724AF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67E146F-3A08-4381-8F8B-EA2D911AFA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9BC91AA-7F6E-4459-83FB-9D9E749A69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A0BE2E8-D494-4905-B2E3-ED677656BC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F4829F6-61A8-4783-8336-6279D9E0B7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4F8D309-351E-4889-BDE5-EC8FD2A68E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0D97007-F946-442E-8B7D-FEE6B55615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https://techfieldproject01.streamlit.app/" TargetMode="External"/><Relationship Id="rId2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6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502920" y="502920"/>
            <a:ext cx="163440" cy="5439600"/>
          </a:xfrm>
          <a:prstGeom prst="rect">
            <a:avLst/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868680" y="502920"/>
            <a:ext cx="163440" cy="5439600"/>
          </a:xfrm>
          <a:prstGeom prst="rect">
            <a:avLst/>
          </a:prstGeom>
          <a:solidFill>
            <a:srgbClr val="1E88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1234440" y="502920"/>
            <a:ext cx="163440" cy="5439600"/>
          </a:xfrm>
          <a:prstGeom prst="rect">
            <a:avLst/>
          </a:prstGeom>
          <a:solidFill>
            <a:srgbClr val="CC99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1720" tIns="45000" rIns="81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645920" y="1097280"/>
            <a:ext cx="987444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Smart Loan Application Portal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664280" y="1965960"/>
            <a:ext cx="969156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DCE6F0"/>
                </a:solidFill>
                <a:effectLst/>
                <a:uFillTx/>
                <a:latin typeface="Calibri"/>
              </a:rPr>
              <a:t>Machine learning loan amount recommendation system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1664280" y="2697120"/>
            <a:ext cx="9631440" cy="28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1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Objective: </a:t>
            </a:r>
            <a:r>
              <a:rPr lang="en-US" sz="15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Build a machine learning model that recommends an appropriate loan amount based on borrower financial and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credit characteristics.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1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Domain</a:t>
            </a:r>
            <a:r>
              <a:rPr lang="en-US" sz="15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: Finance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1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Problem Type</a:t>
            </a:r>
            <a:r>
              <a:rPr lang="en-US" sz="15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: Regression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1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Dataset</a:t>
            </a:r>
            <a:r>
              <a:rPr lang="en-US" sz="15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: 15,000 Borrower Records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1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Developed By</a:t>
            </a:r>
            <a:r>
              <a:rPr lang="en-US" sz="15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: Malhar Jojare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1664280" y="5074920"/>
            <a:ext cx="2344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ectangle 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457200" y="6309360"/>
            <a:ext cx="49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Project Goal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530280" y="841320"/>
            <a:ext cx="2909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What the solution is designed to do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4"/>
          <p:cNvSpPr/>
          <p:nvPr/>
        </p:nvSpPr>
        <p:spPr>
          <a:xfrm>
            <a:off x="777240" y="1234440"/>
            <a:ext cx="2467800" cy="410400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777240" y="128916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BUSINESS PROBLEM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777240" y="1783080"/>
            <a:ext cx="10788840" cy="29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500" b="1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Problem: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Financial institutions receive thousands of loan applications daily.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Traditional loan recommendation methods: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Depend heavily on manual review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Are time-consuming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Produce inconsistent recommendations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Increase operational costs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500" b="1" u="none" strike="noStrike">
                <a:solidFill>
                  <a:srgbClr val="282828"/>
                </a:solidFill>
                <a:effectLst/>
                <a:uFillTx/>
                <a:latin typeface="Calibri"/>
                <a:ea typeface="Microsoft YaHei"/>
              </a:rPr>
              <a:t>Goal:</a:t>
            </a:r>
            <a:r>
              <a:rPr lang="en-US" sz="1400" b="1" u="none" strike="noStrike">
                <a:solidFill>
                  <a:srgbClr val="282828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400" b="0" u="none" strike="noStrike">
                <a:solidFill>
                  <a:srgbClr val="282828"/>
                </a:solidFill>
                <a:effectLst/>
                <a:uFillTx/>
                <a:latin typeface="Calibri"/>
                <a:ea typeface="Microsoft YaHei"/>
              </a:rPr>
              <a:t>Predict a recommended loan amount from borrower financial and credit profile data. Support lending decisions with a data-driven regression model. Turn the model into a simple application that non-technical users can run.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7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4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02920" y="109800"/>
            <a:ext cx="1078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Project Goal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530280" y="841320"/>
            <a:ext cx="2909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What the solution is designed to do 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1"/>
          <p:cNvSpPr/>
          <p:nvPr/>
        </p:nvSpPr>
        <p:spPr>
          <a:xfrm>
            <a:off x="777240" y="1234440"/>
            <a:ext cx="2467800" cy="410400"/>
          </a:xfrm>
          <a:prstGeom prst="roundRect">
            <a:avLst>
              <a:gd name="adj" fmla="val 16667"/>
            </a:avLst>
          </a:prstGeom>
          <a:solidFill>
            <a:srgbClr val="2E75B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13"/>
          <p:cNvSpPr/>
          <p:nvPr/>
        </p:nvSpPr>
        <p:spPr>
          <a:xfrm>
            <a:off x="1174680" y="1289160"/>
            <a:ext cx="1672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BUSINESS PROBLEM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11236680" y="6309360"/>
            <a:ext cx="237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29920" y="1828800"/>
            <a:ext cx="3813120" cy="21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This Problem Exists?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Manual underwriting effort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Inconsistent decisions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Human errors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Slow approval process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6629400" y="1828800"/>
            <a:ext cx="3813120" cy="217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Business Consequences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Font typeface="Wingdings 2" charset="2"/>
              <a:buChar char="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processing costs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Font typeface="Wingdings 2" charset="2"/>
              <a:buChar char="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Customer dissatisfaction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Font typeface="Wingdings 2" charset="2"/>
              <a:buChar char="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Delayed approvals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  <a:buClr>
                <a:srgbClr val="000000"/>
              </a:buClr>
              <a:buFont typeface="Wingdings 2" charset="2"/>
              <a:buChar char=""/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Reduced operational efficiency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Dataset Overview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"/>
          <p:cNvSpPr/>
          <p:nvPr/>
        </p:nvSpPr>
        <p:spPr>
          <a:xfrm>
            <a:off x="530280" y="841320"/>
            <a:ext cx="2279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Summary from the notebook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"/>
          <p:cNvSpPr/>
          <p:nvPr/>
        </p:nvSpPr>
        <p:spPr>
          <a:xfrm>
            <a:off x="68580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Dataset Facts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5"/>
          <p:cNvSpPr/>
          <p:nvPr/>
        </p:nvSpPr>
        <p:spPr>
          <a:xfrm>
            <a:off x="71316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15,000 records.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17 columns.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Finance domain.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Regression problem.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6"/>
          <p:cNvSpPr/>
          <p:nvPr/>
        </p:nvSpPr>
        <p:spPr>
          <a:xfrm>
            <a:off x="621792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E8891"/>
                </a:solidFill>
                <a:effectLst/>
                <a:uFillTx/>
                <a:latin typeface="Calibri"/>
              </a:rPr>
              <a:t>Target and Inputs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7"/>
          <p:cNvSpPr/>
          <p:nvPr/>
        </p:nvSpPr>
        <p:spPr>
          <a:xfrm>
            <a:off x="623628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Target variable: recommended_loan_amount.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Inputs include age, income, credit score, debt ratio, savings, and loan term.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Also includes property ownership, defaults, and employment details.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9"/>
          <p:cNvSpPr/>
          <p:nvPr/>
        </p:nvSpPr>
        <p:spPr>
          <a:xfrm>
            <a:off x="457200" y="6309360"/>
            <a:ext cx="3288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 Preparation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530280" y="841320"/>
            <a:ext cx="24033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Cleaning and validation steps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68580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Notebook Cleaning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5"/>
          <p:cNvSpPr/>
          <p:nvPr/>
        </p:nvSpPr>
        <p:spPr>
          <a:xfrm>
            <a:off x="71316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Explores missing values and outliers.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Handles unusual savings values using income-based replacement logic.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Uses grouped analysis by years employed.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623628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57200" y="6309360"/>
            <a:ext cx="9600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7643160" y="1371600"/>
            <a:ext cx="2415240" cy="111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"/>
          <p:cNvPicPr/>
          <p:nvPr/>
        </p:nvPicPr>
        <p:blipFill>
          <a:blip r:embed="rId2"/>
          <a:stretch/>
        </p:blipFill>
        <p:spPr>
          <a:xfrm>
            <a:off x="7543800" y="3048480"/>
            <a:ext cx="4350960" cy="129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"/>
          <p:cNvPicPr/>
          <p:nvPr/>
        </p:nvPicPr>
        <p:blipFill>
          <a:blip r:embed="rId3"/>
          <a:stretch/>
        </p:blipFill>
        <p:spPr>
          <a:xfrm>
            <a:off x="442080" y="3886200"/>
            <a:ext cx="5958720" cy="124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Exploratory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3"/>
          <p:cNvSpPr/>
          <p:nvPr/>
        </p:nvSpPr>
        <p:spPr>
          <a:xfrm>
            <a:off x="530280" y="841320"/>
            <a:ext cx="3040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How the notebook examined the data 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4"/>
          <p:cNvSpPr/>
          <p:nvPr/>
        </p:nvSpPr>
        <p:spPr>
          <a:xfrm>
            <a:off x="777240" y="1463040"/>
            <a:ext cx="10788840" cy="31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notebook uses SQL-style queries and data visualization to inspect borrower patterns.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It reviews age, years employed, annual income, savings balance, debt, and credit features.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analysis helps reveal which borrower attributes are likely to influence the loan amount.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5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457200" y="6309360"/>
            <a:ext cx="9600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7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"/>
          <p:cNvPicPr/>
          <p:nvPr/>
        </p:nvPicPr>
        <p:blipFill>
          <a:blip r:embed="rId1"/>
          <a:stretch/>
        </p:blipFill>
        <p:spPr>
          <a:xfrm>
            <a:off x="730800" y="2892240"/>
            <a:ext cx="10835280" cy="3279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21"/>
          <p:cNvSpPr/>
          <p:nvPr/>
        </p:nvSpPr>
        <p:spPr>
          <a:xfrm>
            <a:off x="502920" y="109800"/>
            <a:ext cx="1078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Exploratory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22"/>
          <p:cNvSpPr/>
          <p:nvPr/>
        </p:nvSpPr>
        <p:spPr>
          <a:xfrm>
            <a:off x="530280" y="841320"/>
            <a:ext cx="28958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How the notebook examined the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12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24"/>
          <p:cNvSpPr/>
          <p:nvPr/>
        </p:nvSpPr>
        <p:spPr>
          <a:xfrm>
            <a:off x="457200" y="6309360"/>
            <a:ext cx="9600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25"/>
          <p:cNvSpPr/>
          <p:nvPr/>
        </p:nvSpPr>
        <p:spPr>
          <a:xfrm>
            <a:off x="11236680" y="6309360"/>
            <a:ext cx="237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"/>
          <p:cNvPicPr/>
          <p:nvPr/>
        </p:nvPicPr>
        <p:blipFill>
          <a:blip r:embed="rId1"/>
          <a:stretch/>
        </p:blipFill>
        <p:spPr>
          <a:xfrm>
            <a:off x="42480" y="1600200"/>
            <a:ext cx="12190680" cy="4431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3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23"/>
          <p:cNvSpPr/>
          <p:nvPr/>
        </p:nvSpPr>
        <p:spPr>
          <a:xfrm>
            <a:off x="502920" y="109800"/>
            <a:ext cx="1078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Exploratory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26"/>
          <p:cNvSpPr/>
          <p:nvPr/>
        </p:nvSpPr>
        <p:spPr>
          <a:xfrm>
            <a:off x="530280" y="841320"/>
            <a:ext cx="28958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How the notebook examined the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14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27"/>
          <p:cNvSpPr/>
          <p:nvPr/>
        </p:nvSpPr>
        <p:spPr>
          <a:xfrm>
            <a:off x="457200" y="6309360"/>
            <a:ext cx="9600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28"/>
          <p:cNvSpPr/>
          <p:nvPr/>
        </p:nvSpPr>
        <p:spPr>
          <a:xfrm>
            <a:off x="11236680" y="6309360"/>
            <a:ext cx="237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"/>
          <p:cNvPicPr/>
          <p:nvPr/>
        </p:nvPicPr>
        <p:blipFill>
          <a:blip r:embed="rId1"/>
          <a:stretch/>
        </p:blipFill>
        <p:spPr>
          <a:xfrm>
            <a:off x="0" y="1067400"/>
            <a:ext cx="12190680" cy="533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15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29"/>
          <p:cNvSpPr/>
          <p:nvPr/>
        </p:nvSpPr>
        <p:spPr>
          <a:xfrm>
            <a:off x="502920" y="109800"/>
            <a:ext cx="1078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Exploratory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30"/>
          <p:cNvSpPr/>
          <p:nvPr/>
        </p:nvSpPr>
        <p:spPr>
          <a:xfrm>
            <a:off x="530280" y="841320"/>
            <a:ext cx="28958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How the notebook examined the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16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31"/>
          <p:cNvSpPr/>
          <p:nvPr/>
        </p:nvSpPr>
        <p:spPr>
          <a:xfrm>
            <a:off x="457200" y="6309360"/>
            <a:ext cx="9600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32"/>
          <p:cNvSpPr/>
          <p:nvPr/>
        </p:nvSpPr>
        <p:spPr>
          <a:xfrm>
            <a:off x="11236680" y="6309360"/>
            <a:ext cx="237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1"/>
          <a:stretch/>
        </p:blipFill>
        <p:spPr>
          <a:xfrm>
            <a:off x="42480" y="1143000"/>
            <a:ext cx="12190680" cy="533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7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3"/>
          <p:cNvSpPr/>
          <p:nvPr/>
        </p:nvSpPr>
        <p:spPr>
          <a:xfrm>
            <a:off x="502920" y="109800"/>
            <a:ext cx="1078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MICE Imputation vs My Approach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1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35"/>
          <p:cNvSpPr/>
          <p:nvPr/>
        </p:nvSpPr>
        <p:spPr>
          <a:xfrm>
            <a:off x="457200" y="6309360"/>
            <a:ext cx="9600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36"/>
          <p:cNvSpPr/>
          <p:nvPr/>
        </p:nvSpPr>
        <p:spPr>
          <a:xfrm>
            <a:off x="11236680" y="6309360"/>
            <a:ext cx="237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"/>
          <p:cNvPicPr/>
          <p:nvPr/>
        </p:nvPicPr>
        <p:blipFill>
          <a:blip r:embed="rId1"/>
          <a:stretch/>
        </p:blipFill>
        <p:spPr>
          <a:xfrm>
            <a:off x="5029200" y="1928160"/>
            <a:ext cx="6895800" cy="332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Box 34"/>
          <p:cNvSpPr/>
          <p:nvPr/>
        </p:nvSpPr>
        <p:spPr>
          <a:xfrm>
            <a:off x="71316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457200" y="1143000"/>
            <a:ext cx="41144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MICE is more flexible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Wider spread (0.58 → 1.06)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Reacts to multiple features (credit score, employment, property, etc.)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Allows heterogeneity: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some people saving more than income (ratio &gt; 1)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others closer to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MICE has ratios &gt; 1 (e.g. 1.06)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That means: Imputed savings &gt; annual income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This can be: realistic only in rare cases (inheritance, assets, lump sums)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but often a sign of overestimation or weak constraints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Modeling Approach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530280" y="841320"/>
            <a:ext cx="2256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Training and model selection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4"/>
          <p:cNvSpPr/>
          <p:nvPr/>
        </p:nvSpPr>
        <p:spPr>
          <a:xfrm>
            <a:off x="68580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Models Tested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71316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Linear Regression.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Random Forest Regressor.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XGBoost Regressor.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6"/>
          <p:cNvSpPr/>
          <p:nvPr/>
        </p:nvSpPr>
        <p:spPr>
          <a:xfrm>
            <a:off x="621792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E8891"/>
                </a:solidFill>
                <a:effectLst/>
                <a:uFillTx/>
                <a:latin typeface="Calibri"/>
              </a:rPr>
              <a:t>Final Choice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7"/>
          <p:cNvSpPr/>
          <p:nvPr/>
        </p:nvSpPr>
        <p:spPr>
          <a:xfrm>
            <a:off x="623628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XGBoost is selected as the final model.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trained model is saved as loan_amount_xgb.pkl.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Streamlit app loads the persisted model for predictions.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Box 10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"/>
          <p:cNvPicPr/>
          <p:nvPr/>
        </p:nvPicPr>
        <p:blipFill>
          <a:blip r:embed="rId1"/>
          <a:stretch/>
        </p:blipFill>
        <p:spPr>
          <a:xfrm>
            <a:off x="457200" y="3505680"/>
            <a:ext cx="5082480" cy="1523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7" name=""/>
          <p:cNvPicPr/>
          <p:nvPr/>
        </p:nvPicPr>
        <p:blipFill>
          <a:blip r:embed="rId2"/>
          <a:stretch/>
        </p:blipFill>
        <p:spPr>
          <a:xfrm>
            <a:off x="6400800" y="3337920"/>
            <a:ext cx="4617720" cy="283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Performance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530280" y="841320"/>
            <a:ext cx="228276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Reported experimental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4"/>
          <p:cNvSpPr/>
          <p:nvPr/>
        </p:nvSpPr>
        <p:spPr>
          <a:xfrm>
            <a:off x="914400" y="1234440"/>
            <a:ext cx="10331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Notebook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5"/>
          <p:cNvSpPr/>
          <p:nvPr/>
        </p:nvSpPr>
        <p:spPr>
          <a:xfrm>
            <a:off x="914400" y="1554480"/>
            <a:ext cx="10331640" cy="319932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>
            <a:solidFill>
              <a:srgbClr val="DCE1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1143000" y="1737360"/>
            <a:ext cx="9874440" cy="11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notebook reports very strong performance for the final XGBoost model.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Test R2 is about 0.9985.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This is a notebook result and should be presented as the experimental outcome of the training run.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7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457200" y="6309360"/>
            <a:ext cx="3281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9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"/>
          <p:cNvPicPr/>
          <p:nvPr/>
        </p:nvPicPr>
        <p:blipFill>
          <a:blip r:embed="rId1"/>
          <a:stretch/>
        </p:blipFill>
        <p:spPr>
          <a:xfrm>
            <a:off x="1196640" y="3200400"/>
            <a:ext cx="3831840" cy="102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"/>
          <p:cNvPicPr/>
          <p:nvPr/>
        </p:nvPicPr>
        <p:blipFill>
          <a:blip r:embed="rId2"/>
          <a:stretch/>
        </p:blipFill>
        <p:spPr>
          <a:xfrm>
            <a:off x="6462000" y="3200400"/>
            <a:ext cx="3824280" cy="108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9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14"/>
          <p:cNvSpPr/>
          <p:nvPr/>
        </p:nvSpPr>
        <p:spPr>
          <a:xfrm>
            <a:off x="502920" y="109800"/>
            <a:ext cx="10788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Performance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16"/>
          <p:cNvSpPr/>
          <p:nvPr/>
        </p:nvSpPr>
        <p:spPr>
          <a:xfrm>
            <a:off x="530280" y="841320"/>
            <a:ext cx="2382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Reported experimental result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7"/>
          <p:cNvSpPr/>
          <p:nvPr/>
        </p:nvSpPr>
        <p:spPr>
          <a:xfrm>
            <a:off x="914400" y="1234440"/>
            <a:ext cx="1764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Notebook Result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8"/>
          <p:cNvSpPr/>
          <p:nvPr/>
        </p:nvSpPr>
        <p:spPr>
          <a:xfrm>
            <a:off x="1143000" y="1737360"/>
            <a:ext cx="9874440" cy="11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19"/>
          <p:cNvSpPr/>
          <p:nvPr/>
        </p:nvSpPr>
        <p:spPr>
          <a:xfrm>
            <a:off x="457200" y="6309360"/>
            <a:ext cx="33148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20"/>
          <p:cNvSpPr/>
          <p:nvPr/>
        </p:nvSpPr>
        <p:spPr>
          <a:xfrm>
            <a:off x="11236680" y="6309360"/>
            <a:ext cx="237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"/>
          <p:cNvPicPr/>
          <p:nvPr/>
        </p:nvPicPr>
        <p:blipFill>
          <a:blip r:embed="rId1"/>
          <a:stretch/>
        </p:blipFill>
        <p:spPr>
          <a:xfrm>
            <a:off x="228600" y="1600200"/>
            <a:ext cx="5889240" cy="4723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"/>
          <p:cNvPicPr/>
          <p:nvPr/>
        </p:nvPicPr>
        <p:blipFill>
          <a:blip r:embed="rId2"/>
          <a:stretch/>
        </p:blipFill>
        <p:spPr>
          <a:xfrm>
            <a:off x="6438960" y="2385720"/>
            <a:ext cx="5676120" cy="58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"/>
          <p:cNvPicPr/>
          <p:nvPr/>
        </p:nvPicPr>
        <p:blipFill>
          <a:blip r:embed="rId3"/>
          <a:stretch/>
        </p:blipFill>
        <p:spPr>
          <a:xfrm>
            <a:off x="6400800" y="3863880"/>
            <a:ext cx="2559240" cy="25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Streamlit App Workflow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3"/>
          <p:cNvSpPr/>
          <p:nvPr/>
        </p:nvSpPr>
        <p:spPr>
          <a:xfrm>
            <a:off x="530280" y="841320"/>
            <a:ext cx="301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How the user experience is structured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4"/>
          <p:cNvSpPr/>
          <p:nvPr/>
        </p:nvSpPr>
        <p:spPr>
          <a:xfrm>
            <a:off x="822960" y="1325880"/>
            <a:ext cx="566820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1: Personal information.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2: Email verification with OTP.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3: Employment details.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4: Credit profile.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5: Financial information.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6: Loan details.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Step 7: Review and prediction.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5"/>
          <p:cNvSpPr/>
          <p:nvPr/>
        </p:nvSpPr>
        <p:spPr>
          <a:xfrm>
            <a:off x="6400800" y="1417320"/>
            <a:ext cx="4113720" cy="410400"/>
          </a:xfrm>
          <a:prstGeom prst="roundRect">
            <a:avLst>
              <a:gd name="adj" fmla="val 16667"/>
            </a:avLst>
          </a:prstGeom>
          <a:solidFill>
            <a:srgbClr val="1E88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6"/>
          <p:cNvSpPr/>
          <p:nvPr/>
        </p:nvSpPr>
        <p:spPr>
          <a:xfrm>
            <a:off x="6400800" y="147204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SESSION STATE + MODEL PREDICTION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7"/>
          <p:cNvSpPr/>
          <p:nvPr/>
        </p:nvSpPr>
        <p:spPr>
          <a:xfrm>
            <a:off x="6400800" y="1965960"/>
            <a:ext cx="511956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app stores each step in session state.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Inputs are aligned to the model’s feature order.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The prediction is shown as a recommended loan amount.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9"/>
          <p:cNvSpPr/>
          <p:nvPr/>
        </p:nvSpPr>
        <p:spPr>
          <a:xfrm>
            <a:off x="457200" y="6309360"/>
            <a:ext cx="33148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0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400800" y="3886200"/>
            <a:ext cx="5029200" cy="914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anchorCtr="1">
            <a:spAutoFit/>
          </a:bodyPr>
          <a:p>
            <a:pPr algn="ctr"/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Click here for demonstration.</a:t>
            </a:r>
            <a:endParaRPr lang="en-US" sz="2400" b="0" u="none" strike="noStrike">
              <a:solidFill>
                <a:srgbClr val="000000"/>
              </a:solidFill>
              <a:effectLst/>
              <a:highlight>
                <a:srgbClr val="FFBF00"/>
              </a:highlight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0680" cy="748800"/>
          </a:xfrm>
          <a:prstGeom prst="rect">
            <a:avLst/>
          </a:prstGeom>
          <a:solidFill>
            <a:srgbClr val="1226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2"/>
          <p:cNvSpPr/>
          <p:nvPr/>
        </p:nvSpPr>
        <p:spPr>
          <a:xfrm>
            <a:off x="502920" y="109800"/>
            <a:ext cx="10788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Key Takeaways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"/>
          <p:cNvSpPr/>
          <p:nvPr/>
        </p:nvSpPr>
        <p:spPr>
          <a:xfrm>
            <a:off x="530280" y="841320"/>
            <a:ext cx="2472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What this project demonstrates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68580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E75B6"/>
                </a:solidFill>
                <a:effectLst/>
                <a:uFillTx/>
                <a:latin typeface="Calibri"/>
              </a:rPr>
              <a:t>Analytics Side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71316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Data cleaning and outlier handling.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Feature understanding through EDA.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Model comparison and persistence.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6217920" y="1188720"/>
            <a:ext cx="52110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E8891"/>
                </a:solidFill>
                <a:effectLst/>
                <a:uFillTx/>
                <a:latin typeface="Calibri"/>
              </a:rPr>
              <a:t>Product Side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7"/>
          <p:cNvSpPr/>
          <p:nvPr/>
        </p:nvSpPr>
        <p:spPr>
          <a:xfrm>
            <a:off x="6236280" y="1554480"/>
            <a:ext cx="5302440" cy="438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Multi-step user experience.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Input validation and session handling.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800" b="0" u="none" strike="noStrike">
                <a:solidFill>
                  <a:srgbClr val="282828"/>
                </a:solidFill>
                <a:effectLst/>
                <a:uFillTx/>
                <a:latin typeface="Calibri"/>
              </a:rPr>
              <a:t>End-to-end loan recommendation portal.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8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9"/>
          <p:cNvSpPr/>
          <p:nvPr/>
        </p:nvSpPr>
        <p:spPr>
          <a:xfrm>
            <a:off x="457200" y="6309360"/>
            <a:ext cx="33148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6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914400" y="1417320"/>
            <a:ext cx="10331640" cy="29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From notebook to product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The notebook builds the modeling foundation.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The Streamlit app turns it into a usable loan recommendation experience.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E1EBF5"/>
                </a:solidFill>
                <a:effectLst/>
                <a:uFillTx/>
                <a:latin typeface="Calibri"/>
              </a:rPr>
              <a:t>Together, they show a complete ML workflow from analysis to deployment.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2"/>
          <p:cNvSpPr/>
          <p:nvPr/>
        </p:nvSpPr>
        <p:spPr>
          <a:xfrm>
            <a:off x="914400" y="4983480"/>
            <a:ext cx="10331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EBF0F5"/>
                </a:solidFill>
                <a:effectLst/>
                <a:uFillTx/>
                <a:latin typeface="Calibri"/>
              </a:rPr>
              <a:t>Thank you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3"/>
          <p:cNvSpPr/>
          <p:nvPr/>
        </p:nvSpPr>
        <p:spPr>
          <a:xfrm>
            <a:off x="411480" y="6272640"/>
            <a:ext cx="11337480" cy="17280"/>
          </a:xfrm>
          <a:prstGeom prst="rect">
            <a:avLst/>
          </a:prstGeom>
          <a:solidFill>
            <a:srgbClr val="E1E5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5"/>
          <p:cNvSpPr/>
          <p:nvPr/>
        </p:nvSpPr>
        <p:spPr>
          <a:xfrm>
            <a:off x="10972800" y="6309360"/>
            <a:ext cx="501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E6E6E"/>
                </a:solidFill>
                <a:effectLst/>
                <a:uFillTx/>
                <a:latin typeface="Calibri"/>
              </a:rPr>
              <a:t>10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315</TotalTime>
  <Application>LibreOffice/26.2.4.2$Windows_X86_64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2026-06-24T13:05:36Z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