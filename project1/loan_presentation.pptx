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9250CF5-65C8-431D-A625-B229F20E0A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AB67650-64E2-4403-98E9-D11588DB7D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8167D5C-DB7F-48A9-B140-6C5F313056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73A9671-C2F5-4DCA-8E44-B811B9FDB3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47C20A5-1745-4FA3-A9B2-353DDF2F93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3F1B7D3-29E4-4A5F-93ED-E22A80C196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E6749F-B696-4284-AA2B-DBC87E468A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9D14270-DCD5-40C2-8F9E-86189081F5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9034516-7378-485F-AF97-B7932C5A27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A347CC-1894-494C-A6D0-6C727C21AA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C0ED48B-9007-4658-B847-CF4133338C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502920" y="502920"/>
            <a:ext cx="163800" cy="54399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868680" y="502920"/>
            <a:ext cx="163800" cy="5439960"/>
          </a:xfrm>
          <a:prstGeom prst="rect">
            <a:avLst/>
          </a:prstGeom>
          <a:solidFill>
            <a:srgbClr val="1E88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1234440" y="502920"/>
            <a:ext cx="163800" cy="5439960"/>
          </a:xfrm>
          <a:prstGeom prst="rect">
            <a:avLst/>
          </a:prstGeom>
          <a:solidFill>
            <a:srgbClr val="CC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645920" y="1097280"/>
            <a:ext cx="9874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Loan Application Portal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664280" y="1965960"/>
            <a:ext cx="9691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DCE6F0"/>
                </a:solidFill>
                <a:effectLst/>
                <a:uFillTx/>
                <a:latin typeface="Calibri"/>
              </a:rPr>
              <a:t>Machine learning loan amount recommendation system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664280" y="2697120"/>
            <a:ext cx="9631800" cy="28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Objective: </a:t>
            </a: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Build a machine learning model that recommends an appropriate loan amount based on borrower financial and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credit characteristics.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Domain</a:t>
            </a: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: Finance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Problem Type</a:t>
            </a: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: Regression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Dataset</a:t>
            </a: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: 15,000 Borrower Records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Developed By</a:t>
            </a: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: Malhar Jojare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664280" y="5074920"/>
            <a:ext cx="23450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457200" y="6309360"/>
            <a:ext cx="496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 Goal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530280" y="841320"/>
            <a:ext cx="2909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What the solution is designed to do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4"/>
          <p:cNvSpPr/>
          <p:nvPr/>
        </p:nvSpPr>
        <p:spPr>
          <a:xfrm>
            <a:off x="777240" y="1234440"/>
            <a:ext cx="2468160" cy="41076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777240" y="1289160"/>
            <a:ext cx="246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PROBLEM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777240" y="1783080"/>
            <a:ext cx="1078920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Problem: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Financial institutions receive thousands of loan applications daily.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Traditional loan recommendation methods: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Depend heavily on manual review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Are time-consuming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Produce inconsistent recommendations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Increase operational costs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Goal:</a:t>
            </a:r>
            <a:r>
              <a:rPr lang="en-US" sz="14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Predict a recommended loan amount from borrower financial and credit profile data. Support lending decisions with a data-driven regression model. Turn the model into a simple application that non-technical users can run.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Target Variable:</a:t>
            </a:r>
            <a:r>
              <a:rPr lang="en-US" sz="14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recommended_loan_amount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7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4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 Goal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530280" y="841320"/>
            <a:ext cx="2909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What the solution is designed to do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"/>
          <p:cNvSpPr/>
          <p:nvPr/>
        </p:nvSpPr>
        <p:spPr>
          <a:xfrm>
            <a:off x="777240" y="1234440"/>
            <a:ext cx="2468160" cy="41076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1174680" y="1289160"/>
            <a:ext cx="1672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PROBLEM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29920" y="1828800"/>
            <a:ext cx="3813480" cy="21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This Problem Exists?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Manual underwriting effort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Inconsistent decisions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Human errors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Slow approval process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629400" y="1828800"/>
            <a:ext cx="3813480" cy="21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Business Consequences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 2" charset="2"/>
              <a:buChar char="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Higher processing costs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 2" charset="2"/>
              <a:buChar char="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 dissatisfaction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 2" charset="2"/>
              <a:buChar char="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Delayed approvals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 2" charset="2"/>
              <a:buChar char="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Reduced operational efficiency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Dataset Overview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30280" y="841320"/>
            <a:ext cx="2279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Summary from the notebook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8580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Dataset Facts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71316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15,000 records.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17 columns.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Finance domain.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Regression problem.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621792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8891"/>
                </a:solidFill>
                <a:effectLst/>
                <a:uFillTx/>
                <a:latin typeface="Calibri"/>
              </a:rPr>
              <a:t>Target and Inputs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623628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Target variable: recommended_loan_amount.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Inputs include age, income, credit score, debt ratio, savings, and loan term.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Also includes property ownership, defaults, and employment 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457200" y="6309360"/>
            <a:ext cx="32889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 Preparation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530280" y="841320"/>
            <a:ext cx="2403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Cleaning and validation steps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68580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Notebook Cleaning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71316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Explores missing values and outliers.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Handles unusual savings values using income-based replacement logic.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Uses grouped analysis by years employed.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621792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8891"/>
                </a:solidFill>
                <a:effectLst/>
                <a:uFillTx/>
                <a:latin typeface="Calibri"/>
              </a:rPr>
              <a:t>App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623628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Validates age is at least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Checks email format before One Time Passcode flow.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Validates credit score range and required fields.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Exploratory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530280" y="841320"/>
            <a:ext cx="28962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How the notebook examined the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777240" y="1463040"/>
            <a:ext cx="1078920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notebook uses SQL-style queries and data visualization to inspect borrower patterns.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It reviews age, years employed, annual income, savings balance, debt, and credit features.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analysis helps reveal which borrower attributes are likely to influence the loan amount.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5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/>
          <p:cNvPicPr/>
          <p:nvPr/>
        </p:nvPicPr>
        <p:blipFill>
          <a:blip r:embed="rId1"/>
          <a:stretch/>
        </p:blipFill>
        <p:spPr>
          <a:xfrm>
            <a:off x="730800" y="2892240"/>
            <a:ext cx="10835640" cy="327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1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Exploratory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2"/>
          <p:cNvSpPr/>
          <p:nvPr/>
        </p:nvSpPr>
        <p:spPr>
          <a:xfrm>
            <a:off x="530280" y="841320"/>
            <a:ext cx="28962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How the notebook examined the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12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4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5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42480" y="1600200"/>
            <a:ext cx="12191040" cy="443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3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3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Exploratory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6"/>
          <p:cNvSpPr/>
          <p:nvPr/>
        </p:nvSpPr>
        <p:spPr>
          <a:xfrm>
            <a:off x="530280" y="841320"/>
            <a:ext cx="28962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How the notebook examined the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14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7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8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"/>
          <p:cNvPicPr/>
          <p:nvPr/>
        </p:nvPicPr>
        <p:blipFill>
          <a:blip r:embed="rId1"/>
          <a:stretch/>
        </p:blipFill>
        <p:spPr>
          <a:xfrm>
            <a:off x="0" y="1067400"/>
            <a:ext cx="12191040" cy="533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5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9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Exploratory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0"/>
          <p:cNvSpPr/>
          <p:nvPr/>
        </p:nvSpPr>
        <p:spPr>
          <a:xfrm>
            <a:off x="530280" y="841320"/>
            <a:ext cx="28962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How the notebook examined the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6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31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2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"/>
          <p:cNvPicPr/>
          <p:nvPr/>
        </p:nvPicPr>
        <p:blipFill>
          <a:blip r:embed="rId1"/>
          <a:stretch/>
        </p:blipFill>
        <p:spPr>
          <a:xfrm>
            <a:off x="42480" y="1143000"/>
            <a:ext cx="12191040" cy="533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7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33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MICE Imputation vs My Approach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35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36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"/>
          <p:cNvPicPr/>
          <p:nvPr/>
        </p:nvPicPr>
        <p:blipFill>
          <a:blip r:embed="rId1"/>
          <a:stretch/>
        </p:blipFill>
        <p:spPr>
          <a:xfrm>
            <a:off x="5029200" y="1928160"/>
            <a:ext cx="6896160" cy="332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34"/>
          <p:cNvSpPr/>
          <p:nvPr/>
        </p:nvSpPr>
        <p:spPr>
          <a:xfrm>
            <a:off x="71316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57200" y="1143000"/>
            <a:ext cx="41148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MICE is more flexible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Wider spread (0.58 → 1.06)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Reacts to multiple features (credit score, employment, property, etc.)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Allows heterogeneity: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some people saving more than income (ratio &gt; 1)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others closer to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MICE has ratios &gt; 1 (e.g. 1.06)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That means: Imputed savings &gt; annual income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 can be: realistic only in rare cases (inheritance, assets, lump sums)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but often a sign of overestimation or weak constraints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Modeling Approach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530280" y="841320"/>
            <a:ext cx="2256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Training and model selection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68580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Models Tested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71316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Linear Regression.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Random Forest Regressor.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XGBoost Regressor.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621792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8891"/>
                </a:solidFill>
                <a:effectLst/>
                <a:uFillTx/>
                <a:latin typeface="Calibri"/>
              </a:rPr>
              <a:t>Final Choice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623628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XGBoost is selected as the final model.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trained model is saved as loan_amount_xgb.pkl.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Streamlit app loads the persisted model for predictions.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Performance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530280" y="841320"/>
            <a:ext cx="22831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Reported experimental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914400" y="1234440"/>
            <a:ext cx="10332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Notebook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5"/>
          <p:cNvSpPr/>
          <p:nvPr/>
        </p:nvSpPr>
        <p:spPr>
          <a:xfrm>
            <a:off x="914400" y="1554480"/>
            <a:ext cx="10332000" cy="319968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>
            <a:solidFill>
              <a:srgbClr val="DC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6"/>
          <p:cNvSpPr/>
          <p:nvPr/>
        </p:nvSpPr>
        <p:spPr>
          <a:xfrm>
            <a:off x="1143000" y="1737360"/>
            <a:ext cx="9874800" cy="11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notebook reports very strong performance for the final XGBoost model.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Test R2 is about 0.9985.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This is a notebook result and should be presented as the experimental outcome of the training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7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8"/>
          <p:cNvSpPr/>
          <p:nvPr/>
        </p:nvSpPr>
        <p:spPr>
          <a:xfrm>
            <a:off x="457200" y="6309360"/>
            <a:ext cx="3281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9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"/>
          <p:cNvPicPr/>
          <p:nvPr/>
        </p:nvPicPr>
        <p:blipFill>
          <a:blip r:embed="rId1"/>
          <a:stretch/>
        </p:blipFill>
        <p:spPr>
          <a:xfrm>
            <a:off x="1196640" y="3200400"/>
            <a:ext cx="3832200" cy="102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"/>
          <p:cNvPicPr/>
          <p:nvPr/>
        </p:nvPicPr>
        <p:blipFill>
          <a:blip r:embed="rId2"/>
          <a:stretch/>
        </p:blipFill>
        <p:spPr>
          <a:xfrm>
            <a:off x="6462000" y="3200400"/>
            <a:ext cx="3824640" cy="108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9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4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Performance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6"/>
          <p:cNvSpPr/>
          <p:nvPr/>
        </p:nvSpPr>
        <p:spPr>
          <a:xfrm>
            <a:off x="530280" y="841320"/>
            <a:ext cx="2382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Reported experimental result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7"/>
          <p:cNvSpPr/>
          <p:nvPr/>
        </p:nvSpPr>
        <p:spPr>
          <a:xfrm>
            <a:off x="914400" y="1234440"/>
            <a:ext cx="176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Notebook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8"/>
          <p:cNvSpPr/>
          <p:nvPr/>
        </p:nvSpPr>
        <p:spPr>
          <a:xfrm>
            <a:off x="1143000" y="1737360"/>
            <a:ext cx="9874800" cy="11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10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19"/>
          <p:cNvSpPr/>
          <p:nvPr/>
        </p:nvSpPr>
        <p:spPr>
          <a:xfrm>
            <a:off x="457200" y="6309360"/>
            <a:ext cx="3315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0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"/>
          <p:cNvPicPr/>
          <p:nvPr/>
        </p:nvPicPr>
        <p:blipFill>
          <a:blip r:embed="rId1"/>
          <a:stretch/>
        </p:blipFill>
        <p:spPr>
          <a:xfrm>
            <a:off x="228600" y="1600200"/>
            <a:ext cx="5889600" cy="472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"/>
          <p:cNvPicPr/>
          <p:nvPr/>
        </p:nvPicPr>
        <p:blipFill>
          <a:blip r:embed="rId2"/>
          <a:stretch/>
        </p:blipFill>
        <p:spPr>
          <a:xfrm>
            <a:off x="6438960" y="2385720"/>
            <a:ext cx="5676480" cy="58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"/>
          <p:cNvPicPr/>
          <p:nvPr/>
        </p:nvPicPr>
        <p:blipFill>
          <a:blip r:embed="rId3"/>
          <a:stretch/>
        </p:blipFill>
        <p:spPr>
          <a:xfrm>
            <a:off x="6400800" y="3863880"/>
            <a:ext cx="2559600" cy="25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Streamlit App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530280" y="841320"/>
            <a:ext cx="3010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How the user experience is structured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822960" y="1325880"/>
            <a:ext cx="566856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1: Personal information.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2: Email verification with OTP.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3: Employment 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4: Credit profile.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5: Financials.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6: Loan 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7: Review and prediction.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5"/>
          <p:cNvSpPr/>
          <p:nvPr/>
        </p:nvSpPr>
        <p:spPr>
          <a:xfrm>
            <a:off x="6400800" y="1417320"/>
            <a:ext cx="4114080" cy="410760"/>
          </a:xfrm>
          <a:prstGeom prst="roundRect">
            <a:avLst>
              <a:gd name="adj" fmla="val 16667"/>
            </a:avLst>
          </a:prstGeom>
          <a:solidFill>
            <a:srgbClr val="1E88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6400800" y="14720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SESSION STATE + MODEL PREDICTION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6400800" y="1965960"/>
            <a:ext cx="511992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app stores each step in session state.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Inputs are aligned to the model’s feature order.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prediction is shown as a recommended loan amount.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457200" y="6309360"/>
            <a:ext cx="3315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Takeaways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530280" y="841320"/>
            <a:ext cx="247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What this project demonstrates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68580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Analytics Side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5"/>
          <p:cNvSpPr/>
          <p:nvPr/>
        </p:nvSpPr>
        <p:spPr>
          <a:xfrm>
            <a:off x="71316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Data cleaning and outlier handling.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Feature understanding through EDA.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Model comparison and persistence.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6"/>
          <p:cNvSpPr/>
          <p:nvPr/>
        </p:nvSpPr>
        <p:spPr>
          <a:xfrm>
            <a:off x="621792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8891"/>
                </a:solidFill>
                <a:effectLst/>
                <a:uFillTx/>
                <a:latin typeface="Calibri"/>
              </a:rPr>
              <a:t>Product Side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7"/>
          <p:cNvSpPr/>
          <p:nvPr/>
        </p:nvSpPr>
        <p:spPr>
          <a:xfrm>
            <a:off x="623628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Multi-step user experience.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Input validation and session handling.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End-to-end loan recommendation portal.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9"/>
          <p:cNvSpPr/>
          <p:nvPr/>
        </p:nvSpPr>
        <p:spPr>
          <a:xfrm>
            <a:off x="457200" y="6309360"/>
            <a:ext cx="3315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914400" y="1417320"/>
            <a:ext cx="1033200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From notebook to product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The notebook builds the modeling foundation.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The Streamlit app turns it into a usable loan recommendation experience.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Together, they show a complete ML workflow from analysis to deployment.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914400" y="4983480"/>
            <a:ext cx="10332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EBF0F5"/>
                </a:solidFill>
                <a:effectLst/>
                <a:uFillTx/>
                <a:latin typeface="Calibri"/>
              </a:rPr>
              <a:t>Thank you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Application>LibreOffice/26.2.4.2$Windows_X86_64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2026-06-23T14:51:46Z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